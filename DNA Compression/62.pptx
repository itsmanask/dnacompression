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PT Serif" panose="020A060304050502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200" y="742175"/>
            <a:ext cx="75564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1000"/>
              </a:spcAft>
              <a:buClr>
                <a:srgbClr val="020202"/>
              </a:buClr>
              <a:buSzPts val="3750"/>
              <a:buFont typeface="PT Serif"/>
              <a:buNone/>
            </a:pPr>
            <a:r>
              <a:rPr lang="en-US" sz="3750" b="1" i="0" u="none" strike="noStrike" cap="none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Efficient DNA Sequence Compression: A Comparative Study Huffman and Arithmetic Coding with Data Structures</a:t>
            </a:r>
            <a:endParaRPr sz="3750" b="0" i="0" u="none" strike="noStrike" cap="none" dirty="0"/>
          </a:p>
        </p:txBody>
      </p:sp>
      <p:sp>
        <p:nvSpPr>
          <p:cNvPr id="58" name="Google Shape;58;p13"/>
          <p:cNvSpPr/>
          <p:nvPr/>
        </p:nvSpPr>
        <p:spPr>
          <a:xfrm>
            <a:off x="6280190" y="448341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1000"/>
              </a:spcBef>
              <a:spcAft>
                <a:spcPts val="0"/>
              </a:spcAft>
              <a:buClr>
                <a:srgbClr val="7D3E2C"/>
              </a:buClr>
              <a:buSzPts val="1750"/>
              <a:buFont typeface="DM Sans"/>
              <a:buNone/>
            </a:pPr>
            <a:r>
              <a:rPr lang="en-US" sz="1750" b="1" i="0" u="none" strike="noStrike" cap="none" dirty="0">
                <a:solidFill>
                  <a:srgbClr val="7D3E2C"/>
                </a:solidFill>
                <a:latin typeface="DM Sans"/>
                <a:ea typeface="DM Sans"/>
                <a:cs typeface="DM Sans"/>
                <a:sym typeface="DM Sans"/>
              </a:rPr>
              <a:t>Authors</a:t>
            </a:r>
            <a:r>
              <a:rPr lang="en-US" sz="1750" b="0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Manas Kulkarni, Atharva Deshpande, Samiksha Nalawade, Revati Aute, Rajlakshmi Desai, Minal Deshmukh</a:t>
            </a:r>
            <a:endParaRPr sz="1750" b="0" i="0" u="none" strike="noStrike" cap="none" dirty="0"/>
          </a:p>
        </p:txBody>
      </p:sp>
      <p:sp>
        <p:nvSpPr>
          <p:cNvPr id="59" name="Google Shape;59;p13"/>
          <p:cNvSpPr/>
          <p:nvPr/>
        </p:nvSpPr>
        <p:spPr>
          <a:xfrm>
            <a:off x="6280179" y="552547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1750"/>
              <a:buFont typeface="DM Sans"/>
              <a:buNone/>
            </a:pPr>
            <a:r>
              <a:rPr lang="en-US" sz="1750" b="1" i="0" u="none" strike="noStrike" cap="none" dirty="0">
                <a:solidFill>
                  <a:srgbClr val="792706"/>
                </a:solidFill>
                <a:latin typeface="DM Sans"/>
                <a:ea typeface="DM Sans"/>
                <a:cs typeface="DM Sans"/>
                <a:sym typeface="DM Sans"/>
              </a:rPr>
              <a:t>Paper ID</a:t>
            </a:r>
            <a:r>
              <a:rPr lang="en-US" sz="1750" b="1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750" b="0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62</a:t>
            </a: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1750"/>
              <a:buFont typeface="DM Sans"/>
              <a:buNone/>
            </a:pPr>
            <a:endParaRPr sz="1750" b="0" i="0" u="none" strike="noStrike" cap="none" dirty="0"/>
          </a:p>
        </p:txBody>
      </p:sp>
      <p:sp>
        <p:nvSpPr>
          <p:cNvPr id="60" name="Google Shape;60;p13"/>
          <p:cNvSpPr/>
          <p:nvPr/>
        </p:nvSpPr>
        <p:spPr>
          <a:xfrm>
            <a:off x="6280179" y="590291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1750"/>
              <a:buFont typeface="DM Sans"/>
              <a:buNone/>
            </a:pPr>
            <a:r>
              <a:rPr lang="en-US" sz="1750" b="1" i="0" u="none" strike="noStrike" cap="none" dirty="0">
                <a:solidFill>
                  <a:srgbClr val="792706"/>
                </a:solidFill>
                <a:latin typeface="DM Sans"/>
                <a:ea typeface="DM Sans"/>
                <a:cs typeface="DM Sans"/>
                <a:sym typeface="DM Sans"/>
              </a:rPr>
              <a:t>Conference</a:t>
            </a:r>
            <a:r>
              <a:rPr lang="en-US" sz="1750" b="0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IEEE Cosmic</a:t>
            </a:r>
            <a:endParaRPr sz="1750" b="0" i="0" u="none" strike="noStrike" cap="none" dirty="0"/>
          </a:p>
        </p:txBody>
      </p:sp>
      <p:sp>
        <p:nvSpPr>
          <p:cNvPr id="61" name="Google Shape;61;p13"/>
          <p:cNvSpPr/>
          <p:nvPr/>
        </p:nvSpPr>
        <p:spPr>
          <a:xfrm>
            <a:off x="6280190" y="670048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1750"/>
              <a:buFont typeface="DM Sans"/>
              <a:buNone/>
            </a:pPr>
            <a:r>
              <a:rPr lang="en-US" sz="1750" b="1" i="0" u="none" strike="noStrike" cap="none">
                <a:solidFill>
                  <a:srgbClr val="792706"/>
                </a:solidFill>
                <a:latin typeface="DM Sans"/>
                <a:ea typeface="DM Sans"/>
                <a:cs typeface="DM Sans"/>
                <a:sym typeface="DM Sans"/>
              </a:rPr>
              <a:t>Institute</a:t>
            </a: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Vishwakarma Institute of Information Technology, Pune</a:t>
            </a:r>
            <a:endParaRPr sz="175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12850325" y="7706625"/>
            <a:ext cx="1666500" cy="453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9;p13">
            <a:extLst>
              <a:ext uri="{FF2B5EF4-FFF2-40B4-BE49-F238E27FC236}">
                <a16:creationId xmlns:a16="http://schemas.microsoft.com/office/drawing/2014/main" id="{94F6FB09-AEBD-352A-84AC-198E2A07D915}"/>
              </a:ext>
            </a:extLst>
          </p:cNvPr>
          <p:cNvSpPr/>
          <p:nvPr/>
        </p:nvSpPr>
        <p:spPr>
          <a:xfrm>
            <a:off x="6280179" y="628034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1750"/>
              <a:buFont typeface="DM Sans"/>
              <a:buNone/>
            </a:pPr>
            <a:r>
              <a:rPr lang="en-US" sz="1750" b="1" dirty="0">
                <a:solidFill>
                  <a:srgbClr val="792706"/>
                </a:solidFill>
                <a:latin typeface="DM Sans"/>
                <a:ea typeface="DM Sans"/>
                <a:cs typeface="DM Sans"/>
                <a:sym typeface="DM Sans"/>
              </a:rPr>
              <a:t>Track</a:t>
            </a:r>
            <a:r>
              <a:rPr lang="en-US" sz="1750" b="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7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Intelligent Systems</a:t>
            </a:r>
            <a:endParaRPr lang="en-US" sz="1750" i="0" u="none" strike="noStrike" cap="none" dirty="0">
              <a:solidFill>
                <a:srgbClr val="3838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1750"/>
              <a:buFont typeface="DM Sans"/>
              <a:buNone/>
            </a:pP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793790" y="1022152"/>
            <a:ext cx="5954197" cy="74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lang="en-US" sz="46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Problem Statement </a:t>
            </a:r>
            <a:endParaRPr sz="4650" b="0" i="0" u="none" strike="noStrike" cap="none"/>
          </a:p>
        </p:txBody>
      </p:sp>
      <p:sp>
        <p:nvSpPr>
          <p:cNvPr id="69" name="Google Shape;69;p14"/>
          <p:cNvSpPr/>
          <p:nvPr/>
        </p:nvSpPr>
        <p:spPr>
          <a:xfrm>
            <a:off x="793790" y="210657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 rapid advancement in sequencing technologies has led to an exponential growth in genomic data, presenting significant challenges in storage and processing.</a:t>
            </a:r>
            <a:endParaRPr sz="175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793790" y="3087529"/>
            <a:ext cx="4196358" cy="2957751"/>
          </a:xfrm>
          <a:prstGeom prst="roundRect">
            <a:avLst>
              <a:gd name="adj" fmla="val 1150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020604" y="33143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770" y="350139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1020604" y="4221599"/>
            <a:ext cx="3025140" cy="37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High Storage Demands</a:t>
            </a:r>
            <a:endParaRPr sz="2300" b="0" i="0" u="none" strike="noStrike" cap="none"/>
          </a:p>
        </p:txBody>
      </p:sp>
      <p:sp>
        <p:nvSpPr>
          <p:cNvPr id="74" name="Google Shape;74;p14"/>
          <p:cNvSpPr/>
          <p:nvPr/>
        </p:nvSpPr>
        <p:spPr>
          <a:xfrm>
            <a:off x="1020604" y="4729758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DNA datasets are extremely large, requiring vast amounts of storage space.</a:t>
            </a:r>
            <a:endParaRPr sz="1750" b="0" i="0" u="none" strike="noStrike" cap="none"/>
          </a:p>
        </p:txBody>
      </p:sp>
      <p:sp>
        <p:nvSpPr>
          <p:cNvPr id="75" name="Google Shape;75;p14"/>
          <p:cNvSpPr/>
          <p:nvPr/>
        </p:nvSpPr>
        <p:spPr>
          <a:xfrm>
            <a:off x="5216962" y="3087529"/>
            <a:ext cx="4196358" cy="2957751"/>
          </a:xfrm>
          <a:prstGeom prst="roundRect">
            <a:avLst>
              <a:gd name="adj" fmla="val 1150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5443776" y="33143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0942" y="350139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5443776" y="4221599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Slow Transfer Rates</a:t>
            </a:r>
            <a:endParaRPr sz="2300" b="0" i="0" u="none" strike="noStrike" cap="none"/>
          </a:p>
        </p:txBody>
      </p:sp>
      <p:sp>
        <p:nvSpPr>
          <p:cNvPr id="79" name="Google Shape;79;p14"/>
          <p:cNvSpPr/>
          <p:nvPr/>
        </p:nvSpPr>
        <p:spPr>
          <a:xfrm>
            <a:off x="5443776" y="4729758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Inefficient data transfer hinders bioinformatics processing workflows.</a:t>
            </a:r>
            <a:endParaRPr sz="175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9640133" y="3087529"/>
            <a:ext cx="4196358" cy="2957751"/>
          </a:xfrm>
          <a:prstGeom prst="roundRect">
            <a:avLst>
              <a:gd name="adj" fmla="val 1150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9866948" y="33143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4114" y="350139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9866948" y="4221599"/>
            <a:ext cx="3455313" cy="37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Suboptimal Existing Tools</a:t>
            </a:r>
            <a:endParaRPr sz="2300" b="0" i="0" u="none" strike="noStrike" cap="none"/>
          </a:p>
        </p:txBody>
      </p:sp>
      <p:sp>
        <p:nvSpPr>
          <p:cNvPr id="84" name="Google Shape;84;p14"/>
          <p:cNvSpPr/>
          <p:nvPr/>
        </p:nvSpPr>
        <p:spPr>
          <a:xfrm>
            <a:off x="9866948" y="4729758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Generic tools like Gzip and Bzip2 are not optimized for the unique structure of DNA.</a:t>
            </a:r>
            <a:endParaRPr sz="1750" b="0" i="0" u="none" strike="noStrike" cap="none"/>
          </a:p>
        </p:txBody>
      </p:sp>
      <p:sp>
        <p:nvSpPr>
          <p:cNvPr id="85" name="Google Shape;85;p14"/>
          <p:cNvSpPr/>
          <p:nvPr/>
        </p:nvSpPr>
        <p:spPr>
          <a:xfrm>
            <a:off x="793790" y="6300430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792706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792706"/>
                </a:solidFill>
                <a:latin typeface="DM Sans"/>
                <a:ea typeface="DM Sans"/>
                <a:cs typeface="DM Sans"/>
                <a:sym typeface="DM Sans"/>
              </a:rPr>
              <a:t>Goal: </a:t>
            </a:r>
            <a:r>
              <a:rPr lang="en-US" sz="22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Compare Huffman Coding and Arithmetic Coding for efficient DNA compression using optimized data structures.</a:t>
            </a:r>
            <a:endParaRPr sz="2200" b="0" i="0" u="none" strike="noStrike" cap="none"/>
          </a:p>
        </p:txBody>
      </p:sp>
      <p:sp>
        <p:nvSpPr>
          <p:cNvPr id="86" name="Google Shape;86;p14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783669" y="615791"/>
            <a:ext cx="11841480" cy="73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00"/>
              <a:buFont typeface="PT Serif"/>
              <a:buNone/>
            </a:pPr>
            <a:r>
              <a:rPr lang="en-US" sz="44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Our Objective: Optimizing DNA Compression</a:t>
            </a:r>
            <a:endParaRPr sz="4400" b="0" i="0" u="none" strike="noStrike" cap="none"/>
          </a:p>
        </p:txBody>
      </p:sp>
      <p:sp>
        <p:nvSpPr>
          <p:cNvPr id="93" name="Google Shape;93;p15"/>
          <p:cNvSpPr/>
          <p:nvPr/>
        </p:nvSpPr>
        <p:spPr>
          <a:xfrm>
            <a:off x="783669" y="1686401"/>
            <a:ext cx="13063061" cy="71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This study aims to develop a lossless DNA compression system 2 using classical algorithms, focusing on the impact of data structure design on performance.</a:t>
            </a:r>
            <a:endParaRPr sz="1750" b="0" i="0" u="none" strike="noStrike" cap="none"/>
          </a:p>
        </p:txBody>
      </p:sp>
      <p:sp>
        <p:nvSpPr>
          <p:cNvPr id="94" name="Google Shape;94;p15"/>
          <p:cNvSpPr/>
          <p:nvPr/>
        </p:nvSpPr>
        <p:spPr>
          <a:xfrm>
            <a:off x="783669" y="2990612"/>
            <a:ext cx="6419612" cy="2032159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783669" y="2960132"/>
            <a:ext cx="6419612" cy="121920"/>
          </a:xfrm>
          <a:prstGeom prst="roundRect">
            <a:avLst>
              <a:gd name="adj" fmla="val 2755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3657600" y="2654737"/>
            <a:ext cx="671751" cy="671751"/>
          </a:xfrm>
          <a:prstGeom prst="roundRect">
            <a:avLst>
              <a:gd name="adj" fmla="val 136122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3919043" y="2705814"/>
            <a:ext cx="268605" cy="33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T Serif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sz="2100" b="0" i="0" u="none" strike="noStrike" cap="none" dirty="0"/>
          </a:p>
        </p:txBody>
      </p:sp>
      <p:sp>
        <p:nvSpPr>
          <p:cNvPr id="98" name="Google Shape;98;p15"/>
          <p:cNvSpPr/>
          <p:nvPr/>
        </p:nvSpPr>
        <p:spPr>
          <a:xfrm>
            <a:off x="1037987" y="3550325"/>
            <a:ext cx="2938939" cy="3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Lossless Compression</a:t>
            </a:r>
            <a:endParaRPr sz="2300" b="0" i="0" u="none" strike="noStrike" cap="none"/>
          </a:p>
        </p:txBody>
      </p:sp>
      <p:sp>
        <p:nvSpPr>
          <p:cNvPr id="99" name="Google Shape;99;p15"/>
          <p:cNvSpPr/>
          <p:nvPr/>
        </p:nvSpPr>
        <p:spPr>
          <a:xfrm>
            <a:off x="1037987" y="4051935"/>
            <a:ext cx="5910977" cy="71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Develop a system ensuring perfect reconstruction of the original DNA sequence.</a:t>
            </a:r>
            <a:endParaRPr sz="1750" b="0" i="0" u="none" strike="noStrike" cap="none"/>
          </a:p>
        </p:txBody>
      </p:sp>
      <p:sp>
        <p:nvSpPr>
          <p:cNvPr id="100" name="Google Shape;100;p15"/>
          <p:cNvSpPr/>
          <p:nvPr/>
        </p:nvSpPr>
        <p:spPr>
          <a:xfrm>
            <a:off x="7427119" y="2990612"/>
            <a:ext cx="6419612" cy="2032159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7427119" y="2960132"/>
            <a:ext cx="6419612" cy="121920"/>
          </a:xfrm>
          <a:prstGeom prst="roundRect">
            <a:avLst>
              <a:gd name="adj" fmla="val 2755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10301049" y="2654737"/>
            <a:ext cx="671751" cy="671751"/>
          </a:xfrm>
          <a:prstGeom prst="roundRect">
            <a:avLst>
              <a:gd name="adj" fmla="val 136122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10577576" y="2695443"/>
            <a:ext cx="268605" cy="33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T Serif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sz="2100" b="0" i="0" u="none" strike="noStrike" cap="none" dirty="0"/>
          </a:p>
        </p:txBody>
      </p:sp>
      <p:sp>
        <p:nvSpPr>
          <p:cNvPr id="104" name="Google Shape;104;p15"/>
          <p:cNvSpPr/>
          <p:nvPr/>
        </p:nvSpPr>
        <p:spPr>
          <a:xfrm>
            <a:off x="7681436" y="3550325"/>
            <a:ext cx="2938939" cy="3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Data Structure Impact</a:t>
            </a:r>
            <a:endParaRPr sz="2300" b="0" i="0" u="none" strike="noStrike" cap="none"/>
          </a:p>
        </p:txBody>
      </p:sp>
      <p:sp>
        <p:nvSpPr>
          <p:cNvPr id="105" name="Google Shape;105;p15"/>
          <p:cNvSpPr/>
          <p:nvPr/>
        </p:nvSpPr>
        <p:spPr>
          <a:xfrm>
            <a:off x="7681436" y="4051935"/>
            <a:ext cx="5910977" cy="71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Analyze how BST for Huffman and interval tables for Arithmetic coding affect efficiency.</a:t>
            </a:r>
            <a:endParaRPr sz="1750" b="0" i="0" u="none" strike="noStrike" cap="none"/>
          </a:p>
        </p:txBody>
      </p:sp>
      <p:sp>
        <p:nvSpPr>
          <p:cNvPr id="106" name="Google Shape;106;p15"/>
          <p:cNvSpPr/>
          <p:nvPr/>
        </p:nvSpPr>
        <p:spPr>
          <a:xfrm>
            <a:off x="783669" y="5582483"/>
            <a:ext cx="6419612" cy="2032159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83669" y="5552003"/>
            <a:ext cx="6419612" cy="121920"/>
          </a:xfrm>
          <a:prstGeom prst="roundRect">
            <a:avLst>
              <a:gd name="adj" fmla="val 2755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657600" y="5246608"/>
            <a:ext cx="671751" cy="671751"/>
          </a:xfrm>
          <a:prstGeom prst="roundRect">
            <a:avLst>
              <a:gd name="adj" fmla="val 136122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3919042" y="5298267"/>
            <a:ext cx="268605" cy="33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T Serif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sz="2100" b="0" i="0" u="none" strike="noStrike" cap="none" dirty="0"/>
          </a:p>
        </p:txBody>
      </p:sp>
      <p:sp>
        <p:nvSpPr>
          <p:cNvPr id="110" name="Google Shape;110;p15"/>
          <p:cNvSpPr/>
          <p:nvPr/>
        </p:nvSpPr>
        <p:spPr>
          <a:xfrm>
            <a:off x="1037987" y="6142196"/>
            <a:ext cx="2938939" cy="3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Performance Metrics</a:t>
            </a:r>
            <a:endParaRPr sz="2300" b="0" i="0" u="none" strike="noStrike" cap="none"/>
          </a:p>
        </p:txBody>
      </p:sp>
      <p:sp>
        <p:nvSpPr>
          <p:cNvPr id="111" name="Google Shape;111;p15"/>
          <p:cNvSpPr/>
          <p:nvPr/>
        </p:nvSpPr>
        <p:spPr>
          <a:xfrm>
            <a:off x="1037987" y="6643807"/>
            <a:ext cx="5910977" cy="71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Compare methods based on compression ratio, memory usage, encoding time, and decoding accuracy.</a:t>
            </a:r>
            <a:endParaRPr sz="1750" b="0" i="0" u="none" strike="noStrike" cap="none"/>
          </a:p>
        </p:txBody>
      </p:sp>
      <p:sp>
        <p:nvSpPr>
          <p:cNvPr id="112" name="Google Shape;112;p15"/>
          <p:cNvSpPr/>
          <p:nvPr/>
        </p:nvSpPr>
        <p:spPr>
          <a:xfrm>
            <a:off x="7427119" y="5582483"/>
            <a:ext cx="6419612" cy="2032159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427119" y="5552003"/>
            <a:ext cx="6419612" cy="121920"/>
          </a:xfrm>
          <a:prstGeom prst="roundRect">
            <a:avLst>
              <a:gd name="adj" fmla="val 27550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10301049" y="5246608"/>
            <a:ext cx="671751" cy="671751"/>
          </a:xfrm>
          <a:prstGeom prst="roundRect">
            <a:avLst>
              <a:gd name="adj" fmla="val 136122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0577575" y="5307567"/>
            <a:ext cx="268605" cy="33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T Serif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sz="2100" b="0" i="0" u="none" strike="noStrike" cap="none" dirty="0"/>
          </a:p>
        </p:txBody>
      </p:sp>
      <p:sp>
        <p:nvSpPr>
          <p:cNvPr id="116" name="Google Shape;116;p15"/>
          <p:cNvSpPr/>
          <p:nvPr/>
        </p:nvSpPr>
        <p:spPr>
          <a:xfrm>
            <a:off x="7681436" y="6142196"/>
            <a:ext cx="2938939" cy="36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erif"/>
              <a:buNone/>
            </a:pPr>
            <a:r>
              <a:rPr lang="en-US" sz="23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Scalable Insights</a:t>
            </a:r>
            <a:endParaRPr sz="2300" b="0" i="0" u="none" strike="noStrike" cap="none"/>
          </a:p>
        </p:txBody>
      </p:sp>
      <p:sp>
        <p:nvSpPr>
          <p:cNvPr id="117" name="Google Shape;117;p15"/>
          <p:cNvSpPr/>
          <p:nvPr/>
        </p:nvSpPr>
        <p:spPr>
          <a:xfrm>
            <a:off x="7681436" y="6643807"/>
            <a:ext cx="5910977" cy="71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Provide valuable insights for designing scalable bioinformatics data storage solutions.</a:t>
            </a:r>
            <a:endParaRPr sz="1750" b="0" i="0" u="none" strike="noStrike" cap="none"/>
          </a:p>
        </p:txBody>
      </p:sp>
      <p:sp>
        <p:nvSpPr>
          <p:cNvPr id="118" name="Google Shape;118;p15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661875" y="521244"/>
            <a:ext cx="9780600" cy="13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900"/>
              <a:buFont typeface="PT Serif"/>
              <a:buNone/>
            </a:pPr>
            <a:r>
              <a:rPr lang="en-US" sz="38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System Architecture: A Five-Layer</a:t>
            </a:r>
            <a:r>
              <a:rPr lang="en-US" sz="38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8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Approach</a:t>
            </a:r>
            <a:endParaRPr sz="3800" b="0" i="0" u="none" strike="noStrike" cap="none"/>
          </a:p>
        </p:txBody>
      </p:sp>
      <p:sp>
        <p:nvSpPr>
          <p:cNvPr id="125" name="Google Shape;125;p16"/>
          <p:cNvSpPr/>
          <p:nvPr/>
        </p:nvSpPr>
        <p:spPr>
          <a:xfrm>
            <a:off x="661868" y="1519833"/>
            <a:ext cx="13306663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50"/>
              <a:buFont typeface="DM Sans"/>
              <a:buNone/>
            </a:pPr>
            <a:r>
              <a:rPr lang="en-US" sz="14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Our proposed system integrates several modules to achieve efficient DNA sequence compression.</a:t>
            </a:r>
            <a:endParaRPr sz="1450" b="0" i="0" u="none" strike="noStrike" cap="none"/>
          </a:p>
        </p:txBody>
      </p:sp>
      <p:pic>
        <p:nvPicPr>
          <p:cNvPr id="126" name="Google Shape;126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868" y="2034897"/>
            <a:ext cx="945475" cy="113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1796415" y="2223968"/>
            <a:ext cx="2482096" cy="31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T Serif"/>
              <a:buNone/>
            </a:pPr>
            <a:r>
              <a:rPr lang="en-US" sz="19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DNA Input Layer</a:t>
            </a:r>
            <a:endParaRPr sz="1950" b="0" i="0" u="none" strike="noStrike" cap="none"/>
          </a:p>
        </p:txBody>
      </p:sp>
      <p:sp>
        <p:nvSpPr>
          <p:cNvPr id="128" name="Google Shape;128;p16"/>
          <p:cNvSpPr/>
          <p:nvPr/>
        </p:nvSpPr>
        <p:spPr>
          <a:xfrm>
            <a:off x="1796415" y="2647712"/>
            <a:ext cx="121721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50"/>
              <a:buFont typeface="DM Sans"/>
              <a:buNone/>
            </a:pPr>
            <a:r>
              <a:rPr lang="en-US" sz="14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User provides the sequence of nucleotides (A, C, G, T).</a:t>
            </a:r>
            <a:endParaRPr sz="1450" b="0" i="0" u="none" strike="noStrike" cap="none"/>
          </a:p>
        </p:txBody>
      </p:sp>
      <p:pic>
        <p:nvPicPr>
          <p:cNvPr id="129" name="Google Shape;129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868" y="3169563"/>
            <a:ext cx="945475" cy="113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1796415" y="3358634"/>
            <a:ext cx="2699980" cy="31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T Serif"/>
              <a:buNone/>
            </a:pPr>
            <a:r>
              <a:rPr lang="en-US" sz="19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Frequency &amp; Probability</a:t>
            </a:r>
            <a:endParaRPr sz="1950" b="0" i="0" u="none" strike="noStrike" cap="none"/>
          </a:p>
        </p:txBody>
      </p:sp>
      <p:sp>
        <p:nvSpPr>
          <p:cNvPr id="131" name="Google Shape;131;p16"/>
          <p:cNvSpPr/>
          <p:nvPr/>
        </p:nvSpPr>
        <p:spPr>
          <a:xfrm>
            <a:off x="1796415" y="3782378"/>
            <a:ext cx="121721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50"/>
              <a:buFont typeface="DM Sans"/>
              <a:buNone/>
            </a:pPr>
            <a:r>
              <a:rPr lang="en-US" sz="14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Counting nucleotide occurrences and generating probabilities for Arithmetic Coding.</a:t>
            </a:r>
            <a:endParaRPr sz="1450" b="0" i="0" u="none" strike="noStrike" cap="none"/>
          </a:p>
        </p:txBody>
      </p:sp>
      <p:pic>
        <p:nvPicPr>
          <p:cNvPr id="132" name="Google Shape;13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868" y="4304228"/>
            <a:ext cx="945475" cy="113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1782842" y="4359709"/>
            <a:ext cx="2836050" cy="31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T Serif"/>
              <a:buNone/>
            </a:pPr>
            <a:r>
              <a:rPr lang="en-US" sz="1950" b="0" i="0" u="none" strike="noStrike" cap="none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Huffman Coding Module</a:t>
            </a:r>
            <a:endParaRPr sz="1950" b="0" i="0" u="none" strike="noStrike" cap="none" dirty="0"/>
          </a:p>
        </p:txBody>
      </p:sp>
      <p:sp>
        <p:nvSpPr>
          <p:cNvPr id="134" name="Google Shape;134;p16"/>
          <p:cNvSpPr/>
          <p:nvPr/>
        </p:nvSpPr>
        <p:spPr>
          <a:xfrm>
            <a:off x="1796414" y="4846556"/>
            <a:ext cx="121721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50"/>
              <a:buFont typeface="DM Sans"/>
              <a:buNone/>
            </a:pPr>
            <a:r>
              <a:rPr lang="en-US" sz="1450" b="0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Builds BST, generates prefix-free codes, and encodes the sequence.</a:t>
            </a:r>
            <a:endParaRPr sz="1450" b="0" i="0" u="none" strike="noStrike" cap="none" dirty="0"/>
          </a:p>
        </p:txBody>
      </p:sp>
      <p:pic>
        <p:nvPicPr>
          <p:cNvPr id="135" name="Google Shape;135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868" y="5438894"/>
            <a:ext cx="945475" cy="113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1796414" y="5504736"/>
            <a:ext cx="3408631" cy="28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T Serif"/>
              <a:buNone/>
            </a:pPr>
            <a:r>
              <a:rPr lang="en-US" sz="1950" b="0" i="0" u="none" strike="noStrike" cap="none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Arithmetic Coding Module</a:t>
            </a:r>
            <a:endParaRPr sz="1950" b="0" i="0" u="none" strike="noStrike" cap="none" dirty="0"/>
          </a:p>
        </p:txBody>
      </p:sp>
      <p:sp>
        <p:nvSpPr>
          <p:cNvPr id="137" name="Google Shape;137;p16"/>
          <p:cNvSpPr/>
          <p:nvPr/>
        </p:nvSpPr>
        <p:spPr>
          <a:xfrm>
            <a:off x="1796414" y="5953367"/>
            <a:ext cx="121721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50"/>
              <a:buFont typeface="DM Sans"/>
              <a:buNone/>
            </a:pPr>
            <a:r>
              <a:rPr lang="en-US" sz="1450" b="0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Assigns cumulative probability intervals and converts the sequence to a single floating-point value.</a:t>
            </a:r>
            <a:endParaRPr sz="1450" b="0" i="0" u="none" strike="noStrike" cap="none" dirty="0"/>
          </a:p>
        </p:txBody>
      </p:sp>
      <p:pic>
        <p:nvPicPr>
          <p:cNvPr id="138" name="Google Shape;138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868" y="6573560"/>
            <a:ext cx="945475" cy="113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1796415" y="6762631"/>
            <a:ext cx="2482096" cy="31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50"/>
              <a:buFont typeface="PT Serif"/>
              <a:buNone/>
            </a:pPr>
            <a:r>
              <a:rPr lang="en-US" sz="19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Evaluation Layer</a:t>
            </a:r>
            <a:endParaRPr sz="1950" b="0" i="0" u="none" strike="noStrike" cap="none"/>
          </a:p>
        </p:txBody>
      </p:sp>
      <p:sp>
        <p:nvSpPr>
          <p:cNvPr id="140" name="Google Shape;140;p16"/>
          <p:cNvSpPr/>
          <p:nvPr/>
        </p:nvSpPr>
        <p:spPr>
          <a:xfrm>
            <a:off x="1796415" y="7186374"/>
            <a:ext cx="121721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50"/>
              <a:buFont typeface="DM Sans"/>
              <a:buNone/>
            </a:pPr>
            <a:r>
              <a:rPr lang="en-US" sz="14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Performs memory analysis, calculates compression ratio, measures time, and checks accuracy.</a:t>
            </a:r>
            <a:endParaRPr sz="1450" b="0" i="0" u="none" strike="noStrike" cap="none"/>
          </a:p>
        </p:txBody>
      </p:sp>
      <p:sp>
        <p:nvSpPr>
          <p:cNvPr id="141" name="Google Shape;141;p16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762714" y="773787"/>
            <a:ext cx="13104971" cy="143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500"/>
              <a:buFont typeface="PT Serif"/>
              <a:buNone/>
            </a:pPr>
            <a:r>
              <a:rPr lang="en-US" sz="45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Huffman Coding vs Arithmetic Coding - Working Principles</a:t>
            </a:r>
            <a:endParaRPr sz="4500" b="0" i="0" u="none" strike="noStrike" cap="none"/>
          </a:p>
        </p:txBody>
      </p:sp>
      <p:sp>
        <p:nvSpPr>
          <p:cNvPr id="148" name="Google Shape;148;p17"/>
          <p:cNvSpPr/>
          <p:nvPr/>
        </p:nvSpPr>
        <p:spPr>
          <a:xfrm>
            <a:off x="762714" y="2748677"/>
            <a:ext cx="3432572" cy="42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700"/>
              <a:buFont typeface="PT Serif"/>
              <a:buNone/>
            </a:pPr>
            <a:r>
              <a:rPr lang="en-US" sz="27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Huffman Coding</a:t>
            </a:r>
            <a:endParaRPr sz="2700" b="0" i="0" u="none" strike="noStrike" cap="none"/>
          </a:p>
        </p:txBody>
      </p:sp>
      <p:sp>
        <p:nvSpPr>
          <p:cNvPr id="149" name="Google Shape;149;p17"/>
          <p:cNvSpPr/>
          <p:nvPr/>
        </p:nvSpPr>
        <p:spPr>
          <a:xfrm>
            <a:off x="762714" y="3264813"/>
            <a:ext cx="2860477" cy="35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Working Principle</a:t>
            </a:r>
            <a:endParaRPr sz="2250" b="0" i="0" u="none" strike="noStrike" cap="none"/>
          </a:p>
        </p:txBody>
      </p:sp>
      <p:sp>
        <p:nvSpPr>
          <p:cNvPr id="150" name="Google Shape;150;p17"/>
          <p:cNvSpPr/>
          <p:nvPr/>
        </p:nvSpPr>
        <p:spPr>
          <a:xfrm>
            <a:off x="762714" y="3840242"/>
            <a:ext cx="6286619" cy="69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Builds Binary Search Tree (BST) from nucleotide frequencies</a:t>
            </a:r>
            <a:endParaRPr sz="1700" b="0" i="0" u="none" strike="noStrike" cap="none"/>
          </a:p>
        </p:txBody>
      </p:sp>
      <p:sp>
        <p:nvSpPr>
          <p:cNvPr id="151" name="Google Shape;151;p17"/>
          <p:cNvSpPr/>
          <p:nvPr/>
        </p:nvSpPr>
        <p:spPr>
          <a:xfrm>
            <a:off x="762714" y="4613910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Higher frequency, shorter binary codes</a:t>
            </a:r>
            <a:endParaRPr sz="1700" b="0" i="0" u="none" strike="noStrike" cap="none"/>
          </a:p>
        </p:txBody>
      </p:sp>
      <p:sp>
        <p:nvSpPr>
          <p:cNvPr id="152" name="Google Shape;152;p17"/>
          <p:cNvSpPr/>
          <p:nvPr/>
        </p:nvSpPr>
        <p:spPr>
          <a:xfrm>
            <a:off x="762714" y="5038844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Generates prefix-free, variable-length codes</a:t>
            </a:r>
            <a:endParaRPr sz="1700" b="0" i="0" u="none" strike="noStrike" cap="none"/>
          </a:p>
        </p:txBody>
      </p:sp>
      <p:sp>
        <p:nvSpPr>
          <p:cNvPr id="153" name="Google Shape;153;p17"/>
          <p:cNvSpPr/>
          <p:nvPr/>
        </p:nvSpPr>
        <p:spPr>
          <a:xfrm>
            <a:off x="762714" y="5605462"/>
            <a:ext cx="2860477" cy="35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Strengths</a:t>
            </a:r>
            <a:endParaRPr sz="2250" b="0" i="0" u="none" strike="noStrike" cap="none"/>
          </a:p>
        </p:txBody>
      </p:sp>
      <p:sp>
        <p:nvSpPr>
          <p:cNvPr id="154" name="Google Shape;154;p17"/>
          <p:cNvSpPr/>
          <p:nvPr/>
        </p:nvSpPr>
        <p:spPr>
          <a:xfrm>
            <a:off x="762714" y="6180892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Fast encoding</a:t>
            </a:r>
            <a:endParaRPr sz="1700" b="0" i="0" u="none" strike="noStrike" cap="none"/>
          </a:p>
        </p:txBody>
      </p:sp>
      <p:sp>
        <p:nvSpPr>
          <p:cNvPr id="155" name="Google Shape;155;p17"/>
          <p:cNvSpPr/>
          <p:nvPr/>
        </p:nvSpPr>
        <p:spPr>
          <a:xfrm>
            <a:off x="762714" y="6605826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Works well for balanced nucleotide distributions</a:t>
            </a:r>
            <a:endParaRPr sz="1700" b="0" i="0" u="none" strike="noStrike" cap="none"/>
          </a:p>
        </p:txBody>
      </p:sp>
      <p:sp>
        <p:nvSpPr>
          <p:cNvPr id="156" name="Google Shape;156;p17"/>
          <p:cNvSpPr/>
          <p:nvPr/>
        </p:nvSpPr>
        <p:spPr>
          <a:xfrm>
            <a:off x="762714" y="7030760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Simple and efficient tree-based structure</a:t>
            </a:r>
            <a:endParaRPr sz="1700" b="0" i="0" u="none" strike="noStrike" cap="none"/>
          </a:p>
        </p:txBody>
      </p:sp>
      <p:sp>
        <p:nvSpPr>
          <p:cNvPr id="157" name="Google Shape;157;p17"/>
          <p:cNvSpPr/>
          <p:nvPr/>
        </p:nvSpPr>
        <p:spPr>
          <a:xfrm>
            <a:off x="7588687" y="2748677"/>
            <a:ext cx="3432572" cy="42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700"/>
              <a:buFont typeface="PT Serif"/>
              <a:buNone/>
            </a:pPr>
            <a:r>
              <a:rPr lang="en-US" sz="27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Arithmetic Coding</a:t>
            </a:r>
            <a:endParaRPr sz="2700" b="0" i="0" u="none" strike="noStrike" cap="none"/>
          </a:p>
        </p:txBody>
      </p:sp>
      <p:sp>
        <p:nvSpPr>
          <p:cNvPr id="158" name="Google Shape;158;p17"/>
          <p:cNvSpPr/>
          <p:nvPr/>
        </p:nvSpPr>
        <p:spPr>
          <a:xfrm>
            <a:off x="7588687" y="3264813"/>
            <a:ext cx="2860477" cy="35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Working Principle</a:t>
            </a:r>
            <a:endParaRPr sz="2250" b="0" i="0" u="none" strike="noStrike" cap="none"/>
          </a:p>
        </p:txBody>
      </p:sp>
      <p:sp>
        <p:nvSpPr>
          <p:cNvPr id="159" name="Google Shape;159;p17"/>
          <p:cNvSpPr/>
          <p:nvPr/>
        </p:nvSpPr>
        <p:spPr>
          <a:xfrm>
            <a:off x="7588687" y="3840242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Encodes the entire sequence as a fractional value in [0,1]</a:t>
            </a:r>
            <a:endParaRPr sz="1700" b="0" i="0" u="none" strike="noStrike" cap="none"/>
          </a:p>
        </p:txBody>
      </p:sp>
      <p:sp>
        <p:nvSpPr>
          <p:cNvPr id="160" name="Google Shape;160;p17"/>
          <p:cNvSpPr/>
          <p:nvPr/>
        </p:nvSpPr>
        <p:spPr>
          <a:xfrm>
            <a:off x="7588687" y="4265176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Uses probability-based interval updates</a:t>
            </a:r>
            <a:endParaRPr sz="1700" b="0" i="0" u="none" strike="noStrike" cap="none"/>
          </a:p>
        </p:txBody>
      </p:sp>
      <p:sp>
        <p:nvSpPr>
          <p:cNvPr id="161" name="Google Shape;161;p17"/>
          <p:cNvSpPr/>
          <p:nvPr/>
        </p:nvSpPr>
        <p:spPr>
          <a:xfrm>
            <a:off x="7588687" y="4690110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Produces a fixed 64-bit compressed output</a:t>
            </a:r>
            <a:endParaRPr sz="1700" b="0" i="0" u="none" strike="noStrike" cap="none"/>
          </a:p>
        </p:txBody>
      </p:sp>
      <p:sp>
        <p:nvSpPr>
          <p:cNvPr id="162" name="Google Shape;162;p17"/>
          <p:cNvSpPr/>
          <p:nvPr/>
        </p:nvSpPr>
        <p:spPr>
          <a:xfrm>
            <a:off x="7588687" y="5256728"/>
            <a:ext cx="2860477" cy="35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Strengths</a:t>
            </a:r>
            <a:endParaRPr sz="2250" b="0" i="0" u="none" strike="noStrike" cap="none"/>
          </a:p>
        </p:txBody>
      </p:sp>
      <p:sp>
        <p:nvSpPr>
          <p:cNvPr id="163" name="Google Shape;163;p17"/>
          <p:cNvSpPr/>
          <p:nvPr/>
        </p:nvSpPr>
        <p:spPr>
          <a:xfrm>
            <a:off x="7588687" y="5832158"/>
            <a:ext cx="6286619" cy="69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Very high compression efficiency, especially for long sequences</a:t>
            </a:r>
            <a:endParaRPr sz="1700" b="0" i="0" u="none" strike="noStrike" cap="none"/>
          </a:p>
        </p:txBody>
      </p:sp>
      <p:sp>
        <p:nvSpPr>
          <p:cNvPr id="164" name="Google Shape;164;p17"/>
          <p:cNvSpPr/>
          <p:nvPr/>
        </p:nvSpPr>
        <p:spPr>
          <a:xfrm>
            <a:off x="7588687" y="6605826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Achieves near-entropy optimal compression</a:t>
            </a:r>
            <a:endParaRPr sz="1700" b="0" i="0" u="none" strike="noStrike" cap="none"/>
          </a:p>
        </p:txBody>
      </p:sp>
      <p:sp>
        <p:nvSpPr>
          <p:cNvPr id="165" name="Google Shape;165;p17"/>
          <p:cNvSpPr/>
          <p:nvPr/>
        </p:nvSpPr>
        <p:spPr>
          <a:xfrm>
            <a:off x="7588687" y="7030760"/>
            <a:ext cx="6286619" cy="34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Handles uneven nucleotide distributions effectively</a:t>
            </a:r>
            <a:endParaRPr sz="1700" b="0" i="0" u="none" strike="noStrike" cap="none"/>
          </a:p>
        </p:txBody>
      </p:sp>
      <p:sp>
        <p:nvSpPr>
          <p:cNvPr id="166" name="Google Shape;166;p17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771050" y="605811"/>
            <a:ext cx="10297800" cy="15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7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550"/>
              <a:buFont typeface="PT Serif"/>
              <a:buNone/>
            </a:pPr>
            <a:r>
              <a:rPr lang="en-US" sz="44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Experimental Setup &amp; Memory</a:t>
            </a:r>
            <a:r>
              <a:rPr lang="en-US" sz="445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44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Analysis</a:t>
            </a:r>
            <a:endParaRPr sz="4450" b="0" i="0" u="none" strike="noStrike" cap="none"/>
          </a:p>
        </p:txBody>
      </p:sp>
      <p:sp>
        <p:nvSpPr>
          <p:cNvPr id="173" name="Google Shape;173;p18"/>
          <p:cNvSpPr/>
          <p:nvPr/>
        </p:nvSpPr>
        <p:spPr>
          <a:xfrm>
            <a:off x="771049" y="1769150"/>
            <a:ext cx="130883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We utilized two synthetic DNA datasets to rigorously test the core algorithm performance, free from biological biases.</a:t>
            </a:r>
            <a:endParaRPr sz="1700" b="0" i="0" u="none" strike="noStrike" cap="none"/>
          </a:p>
        </p:txBody>
      </p:sp>
      <p:sp>
        <p:nvSpPr>
          <p:cNvPr id="174" name="Google Shape;174;p18"/>
          <p:cNvSpPr/>
          <p:nvPr/>
        </p:nvSpPr>
        <p:spPr>
          <a:xfrm>
            <a:off x="771049" y="2589609"/>
            <a:ext cx="3694867" cy="43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700"/>
              <a:buFont typeface="PT Serif"/>
              <a:buNone/>
            </a:pPr>
            <a:r>
              <a:rPr lang="en-US" sz="27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Synthetic DNA Datasets</a:t>
            </a:r>
            <a:endParaRPr sz="2700" b="0" i="0" u="none" strike="noStrike" cap="none"/>
          </a:p>
        </p:txBody>
      </p:sp>
      <p:sp>
        <p:nvSpPr>
          <p:cNvPr id="175" name="Google Shape;175;p18"/>
          <p:cNvSpPr/>
          <p:nvPr/>
        </p:nvSpPr>
        <p:spPr>
          <a:xfrm>
            <a:off x="771049" y="3271004"/>
            <a:ext cx="6275427" cy="1279208"/>
          </a:xfrm>
          <a:prstGeom prst="roundRect">
            <a:avLst>
              <a:gd name="adj" fmla="val 2583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78669" y="3278624"/>
            <a:ext cx="6260187" cy="63198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999053" y="3418403"/>
            <a:ext cx="304061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Example 1 (24 nucleotides)</a:t>
            </a:r>
            <a:endParaRPr sz="1700" b="0" i="0" u="none" strike="noStrike" cap="none"/>
          </a:p>
        </p:txBody>
      </p:sp>
      <p:sp>
        <p:nvSpPr>
          <p:cNvPr id="178" name="Google Shape;178;p18"/>
          <p:cNvSpPr/>
          <p:nvPr/>
        </p:nvSpPr>
        <p:spPr>
          <a:xfrm>
            <a:off x="4487823" y="3418403"/>
            <a:ext cx="233076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192 bits</a:t>
            </a:r>
            <a:endParaRPr sz="1700" b="0" i="0" u="none" strike="noStrike" cap="none"/>
          </a:p>
        </p:txBody>
      </p:sp>
      <p:sp>
        <p:nvSpPr>
          <p:cNvPr id="179" name="Google Shape;179;p18"/>
          <p:cNvSpPr/>
          <p:nvPr/>
        </p:nvSpPr>
        <p:spPr>
          <a:xfrm>
            <a:off x="778669" y="3910608"/>
            <a:ext cx="6260187" cy="63198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999053" y="4050387"/>
            <a:ext cx="304061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Example 2 (156 nucleotides)</a:t>
            </a:r>
            <a:endParaRPr sz="1700" b="0" i="0" u="none" strike="noStrike" cap="none"/>
          </a:p>
        </p:txBody>
      </p:sp>
      <p:sp>
        <p:nvSpPr>
          <p:cNvPr id="181" name="Google Shape;181;p18"/>
          <p:cNvSpPr/>
          <p:nvPr/>
        </p:nvSpPr>
        <p:spPr>
          <a:xfrm>
            <a:off x="4487823" y="4050387"/>
            <a:ext cx="233076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1248 bits</a:t>
            </a:r>
            <a:endParaRPr sz="1700" b="0" i="0" u="none" strike="noStrike" cap="none"/>
          </a:p>
        </p:txBody>
      </p:sp>
      <p:sp>
        <p:nvSpPr>
          <p:cNvPr id="182" name="Google Shape;182;p18"/>
          <p:cNvSpPr/>
          <p:nvPr/>
        </p:nvSpPr>
        <p:spPr>
          <a:xfrm>
            <a:off x="771049" y="4797981"/>
            <a:ext cx="627542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Using synthetic data allows for a clean performance evaluation without biological pattern bias.</a:t>
            </a:r>
            <a:endParaRPr sz="1700" b="0" i="0" u="none" strike="noStrike" cap="none"/>
          </a:p>
        </p:txBody>
      </p:sp>
      <p:sp>
        <p:nvSpPr>
          <p:cNvPr id="183" name="Google Shape;183;p18"/>
          <p:cNvSpPr/>
          <p:nvPr/>
        </p:nvSpPr>
        <p:spPr>
          <a:xfrm>
            <a:off x="7591544" y="2589609"/>
            <a:ext cx="3866198" cy="43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700"/>
              <a:buFont typeface="PT Serif"/>
              <a:buNone/>
            </a:pPr>
            <a:r>
              <a:rPr lang="en-US" sz="27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Memory Analysis Results</a:t>
            </a:r>
            <a:endParaRPr sz="2700" b="0" i="0" u="none" strike="noStrike" cap="none"/>
          </a:p>
        </p:txBody>
      </p:sp>
      <p:sp>
        <p:nvSpPr>
          <p:cNvPr id="184" name="Google Shape;184;p18"/>
          <p:cNvSpPr/>
          <p:nvPr/>
        </p:nvSpPr>
        <p:spPr>
          <a:xfrm>
            <a:off x="7591544" y="3243501"/>
            <a:ext cx="627542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020202"/>
                </a:solidFill>
                <a:latin typeface="DM Sans"/>
                <a:ea typeface="DM Sans"/>
                <a:cs typeface="DM Sans"/>
                <a:sym typeface="DM Sans"/>
              </a:rPr>
              <a:t>Huffman Output:</a:t>
            </a:r>
            <a:endParaRPr sz="1700" b="0" i="0" u="none" strike="noStrike" cap="none"/>
          </a:p>
        </p:txBody>
      </p:sp>
      <p:sp>
        <p:nvSpPr>
          <p:cNvPr id="185" name="Google Shape;185;p18"/>
          <p:cNvSpPr/>
          <p:nvPr/>
        </p:nvSpPr>
        <p:spPr>
          <a:xfrm>
            <a:off x="7591544" y="3672959"/>
            <a:ext cx="627542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800" marR="0" lvl="1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 1: 48 bits (0.25 ratio)</a:t>
            </a:r>
            <a:endParaRPr sz="1700" b="0" i="0" u="none" strike="noStrike" cap="none"/>
          </a:p>
        </p:txBody>
      </p:sp>
      <p:sp>
        <p:nvSpPr>
          <p:cNvPr id="186" name="Google Shape;186;p18"/>
          <p:cNvSpPr/>
          <p:nvPr/>
        </p:nvSpPr>
        <p:spPr>
          <a:xfrm>
            <a:off x="7591544" y="4102418"/>
            <a:ext cx="627542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800" marR="0" lvl="1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 2: 312 bits (0.25 ratio due to equal nucleotide distribution)</a:t>
            </a:r>
            <a:endParaRPr sz="1700" b="0" i="0" u="none" strike="noStrike" cap="none"/>
          </a:p>
        </p:txBody>
      </p:sp>
      <p:sp>
        <p:nvSpPr>
          <p:cNvPr id="187" name="Google Shape;187;p18"/>
          <p:cNvSpPr/>
          <p:nvPr/>
        </p:nvSpPr>
        <p:spPr>
          <a:xfrm>
            <a:off x="7591544" y="4884301"/>
            <a:ext cx="627542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020202"/>
                </a:solidFill>
                <a:latin typeface="DM Sans"/>
                <a:ea typeface="DM Sans"/>
                <a:cs typeface="DM Sans"/>
                <a:sym typeface="DM Sans"/>
              </a:rPr>
              <a:t>Arithmetic Output:</a:t>
            </a:r>
            <a:endParaRPr sz="1700" b="0" i="0" u="none" strike="noStrike" cap="none"/>
          </a:p>
        </p:txBody>
      </p:sp>
      <p:sp>
        <p:nvSpPr>
          <p:cNvPr id="188" name="Google Shape;188;p18"/>
          <p:cNvSpPr/>
          <p:nvPr/>
        </p:nvSpPr>
        <p:spPr>
          <a:xfrm>
            <a:off x="7591544" y="5313759"/>
            <a:ext cx="627542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800" marR="0" lvl="1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Always 64 bits (fixed output size)</a:t>
            </a:r>
            <a:endParaRPr sz="1700" b="0" i="0" u="none" strike="noStrike" cap="none"/>
          </a:p>
        </p:txBody>
      </p:sp>
      <p:sp>
        <p:nvSpPr>
          <p:cNvPr id="189" name="Google Shape;189;p18"/>
          <p:cNvSpPr/>
          <p:nvPr/>
        </p:nvSpPr>
        <p:spPr>
          <a:xfrm>
            <a:off x="7591544" y="5743218"/>
            <a:ext cx="627542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800" marR="0" lvl="1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 1 Ratio: 0.33</a:t>
            </a:r>
            <a:endParaRPr sz="1700" b="0" i="0" u="none" strike="noStrike" cap="none"/>
          </a:p>
        </p:txBody>
      </p:sp>
      <p:sp>
        <p:nvSpPr>
          <p:cNvPr id="190" name="Google Shape;190;p18"/>
          <p:cNvSpPr/>
          <p:nvPr/>
        </p:nvSpPr>
        <p:spPr>
          <a:xfrm>
            <a:off x="7591544" y="6172676"/>
            <a:ext cx="627542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800" marR="0" lvl="1" indent="-34290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 2 Ratio: 0.051 (significantly better)</a:t>
            </a:r>
            <a:endParaRPr sz="1700" b="0" i="0" u="none" strike="noStrike" cap="none"/>
          </a:p>
        </p:txBody>
      </p:sp>
      <p:sp>
        <p:nvSpPr>
          <p:cNvPr id="191" name="Google Shape;191;p18"/>
          <p:cNvSpPr/>
          <p:nvPr/>
        </p:nvSpPr>
        <p:spPr>
          <a:xfrm>
            <a:off x="7591544" y="6723340"/>
            <a:ext cx="627542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Arithmetic Coding's efficiency dramatically increases with longer sequence lengths.</a:t>
            </a:r>
            <a:endParaRPr sz="1700" b="0" i="0" u="none" strike="noStrike" cap="none"/>
          </a:p>
        </p:txBody>
      </p:sp>
      <p:sp>
        <p:nvSpPr>
          <p:cNvPr id="192" name="Google Shape;192;p18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759381" y="596622"/>
            <a:ext cx="9926002" cy="71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450"/>
              <a:buFont typeface="PT Serif"/>
              <a:buNone/>
            </a:pPr>
            <a:r>
              <a:rPr lang="en-US" sz="44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Compression Efficiency &amp; Performance</a:t>
            </a:r>
            <a:endParaRPr sz="4450" b="0" i="0" u="none" strike="noStrike" cap="none"/>
          </a:p>
        </p:txBody>
      </p:sp>
      <p:sp>
        <p:nvSpPr>
          <p:cNvPr id="199" name="Google Shape;199;p19"/>
          <p:cNvSpPr/>
          <p:nvPr/>
        </p:nvSpPr>
        <p:spPr>
          <a:xfrm>
            <a:off x="759381" y="1742480"/>
            <a:ext cx="1311163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Our comparative analysis highlights key differences in compression ratios and algorithm behavior.</a:t>
            </a:r>
            <a:endParaRPr sz="1700" b="0" i="0" u="none" strike="noStrike" cap="none"/>
          </a:p>
        </p:txBody>
      </p:sp>
      <p:sp>
        <p:nvSpPr>
          <p:cNvPr id="200" name="Google Shape;200;p19"/>
          <p:cNvSpPr/>
          <p:nvPr/>
        </p:nvSpPr>
        <p:spPr>
          <a:xfrm>
            <a:off x="759381" y="2414945"/>
            <a:ext cx="4791908" cy="42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650"/>
              <a:buFont typeface="PT Serif"/>
              <a:buNone/>
            </a:pPr>
            <a:r>
              <a:rPr lang="en-US" sz="26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Compression Ratio Comparison</a:t>
            </a:r>
            <a:endParaRPr sz="2650" b="0" i="0" u="none" strike="noStrike" cap="none"/>
          </a:p>
        </p:txBody>
      </p:sp>
      <p:sp>
        <p:nvSpPr>
          <p:cNvPr id="201" name="Google Shape;201;p19"/>
          <p:cNvSpPr/>
          <p:nvPr/>
        </p:nvSpPr>
        <p:spPr>
          <a:xfrm>
            <a:off x="759381" y="3167420"/>
            <a:ext cx="13111639" cy="1260396"/>
          </a:xfrm>
          <a:prstGeom prst="roundRect">
            <a:avLst>
              <a:gd name="adj" fmla="val 2582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767001" y="3175040"/>
            <a:ext cx="13095089" cy="622578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985242" y="3312795"/>
            <a:ext cx="392691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 1</a:t>
            </a:r>
            <a:endParaRPr sz="1700" b="0" i="0" u="none" strike="noStrike" cap="none"/>
          </a:p>
        </p:txBody>
      </p:sp>
      <p:sp>
        <p:nvSpPr>
          <p:cNvPr id="204" name="Google Shape;204;p19"/>
          <p:cNvSpPr/>
          <p:nvPr/>
        </p:nvSpPr>
        <p:spPr>
          <a:xfrm>
            <a:off x="5353645" y="3312795"/>
            <a:ext cx="392310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0.25</a:t>
            </a:r>
            <a:endParaRPr sz="1700" b="0" i="0" u="none" strike="noStrike" cap="none"/>
          </a:p>
        </p:txBody>
      </p:sp>
      <p:sp>
        <p:nvSpPr>
          <p:cNvPr id="205" name="Google Shape;205;p19"/>
          <p:cNvSpPr/>
          <p:nvPr/>
        </p:nvSpPr>
        <p:spPr>
          <a:xfrm>
            <a:off x="9718238" y="3312795"/>
            <a:ext cx="392691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0.33</a:t>
            </a:r>
            <a:endParaRPr sz="1700" b="0" i="0" u="none" strike="noStrike" cap="none"/>
          </a:p>
        </p:txBody>
      </p:sp>
      <p:sp>
        <p:nvSpPr>
          <p:cNvPr id="206" name="Google Shape;206;p19"/>
          <p:cNvSpPr/>
          <p:nvPr/>
        </p:nvSpPr>
        <p:spPr>
          <a:xfrm>
            <a:off x="767001" y="3797618"/>
            <a:ext cx="13095089" cy="622578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985242" y="3935373"/>
            <a:ext cx="392691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 2</a:t>
            </a:r>
            <a:endParaRPr sz="1700" b="0" i="0" u="none" strike="noStrike" cap="none"/>
          </a:p>
        </p:txBody>
      </p:sp>
      <p:sp>
        <p:nvSpPr>
          <p:cNvPr id="208" name="Google Shape;208;p19"/>
          <p:cNvSpPr/>
          <p:nvPr/>
        </p:nvSpPr>
        <p:spPr>
          <a:xfrm>
            <a:off x="5353645" y="3935373"/>
            <a:ext cx="392310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0.25</a:t>
            </a:r>
            <a:endParaRPr sz="1700" b="0" i="0" u="none" strike="noStrike" cap="none"/>
          </a:p>
        </p:txBody>
      </p:sp>
      <p:sp>
        <p:nvSpPr>
          <p:cNvPr id="209" name="Google Shape;209;p19"/>
          <p:cNvSpPr/>
          <p:nvPr/>
        </p:nvSpPr>
        <p:spPr>
          <a:xfrm>
            <a:off x="9718238" y="3935373"/>
            <a:ext cx="392691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0.051</a:t>
            </a:r>
            <a:endParaRPr sz="1700" b="0" i="0" u="none" strike="noStrike" cap="none"/>
          </a:p>
        </p:txBody>
      </p:sp>
      <p:sp>
        <p:nvSpPr>
          <p:cNvPr id="210" name="Google Shape;210;p19"/>
          <p:cNvSpPr/>
          <p:nvPr/>
        </p:nvSpPr>
        <p:spPr>
          <a:xfrm>
            <a:off x="759381" y="4753213"/>
            <a:ext cx="3417451" cy="42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650"/>
              <a:buFont typeface="PT Serif"/>
              <a:buNone/>
            </a:pPr>
            <a:r>
              <a:rPr lang="en-US" sz="26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Key Observations</a:t>
            </a:r>
            <a:endParaRPr sz="2650" b="0" i="0" u="none" strike="noStrike" cap="none"/>
          </a:p>
        </p:txBody>
      </p:sp>
      <p:sp>
        <p:nvSpPr>
          <p:cNvPr id="211" name="Google Shape;211;p19"/>
          <p:cNvSpPr/>
          <p:nvPr/>
        </p:nvSpPr>
        <p:spPr>
          <a:xfrm>
            <a:off x="759381" y="5505688"/>
            <a:ext cx="1311163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Huffman's ratio remains constant for balanced datasets, regardless of length.</a:t>
            </a:r>
            <a:endParaRPr sz="1700" b="0" i="0" u="none" strike="noStrike" cap="none"/>
          </a:p>
        </p:txBody>
      </p:sp>
      <p:sp>
        <p:nvSpPr>
          <p:cNvPr id="212" name="Google Shape;212;p19"/>
          <p:cNvSpPr/>
          <p:nvPr/>
        </p:nvSpPr>
        <p:spPr>
          <a:xfrm>
            <a:off x="759381" y="5928598"/>
            <a:ext cx="1311163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Arithmetic coding exhibits superior scalability for longer or uneven sequences.</a:t>
            </a:r>
            <a:endParaRPr sz="1700" b="0" i="0" u="none" strike="noStrike" cap="none"/>
          </a:p>
        </p:txBody>
      </p:sp>
      <p:sp>
        <p:nvSpPr>
          <p:cNvPr id="213" name="Google Shape;213;p19"/>
          <p:cNvSpPr/>
          <p:nvPr/>
        </p:nvSpPr>
        <p:spPr>
          <a:xfrm>
            <a:off x="759381" y="6351508"/>
            <a:ext cx="13111639" cy="3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Huffman offers faster execution; Arithmetic provides higher compactness.</a:t>
            </a:r>
            <a:endParaRPr sz="1700" b="0" i="0" u="none" strike="noStrike" cap="none"/>
          </a:p>
        </p:txBody>
      </p:sp>
      <p:sp>
        <p:nvSpPr>
          <p:cNvPr id="214" name="Google Shape;214;p19"/>
          <p:cNvSpPr/>
          <p:nvPr/>
        </p:nvSpPr>
        <p:spPr>
          <a:xfrm>
            <a:off x="759381" y="6942653"/>
            <a:ext cx="13111639" cy="69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Both algorithms achieved </a:t>
            </a:r>
            <a:r>
              <a:rPr lang="en-US" sz="1700" b="1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100% lossless compression</a:t>
            </a:r>
            <a:r>
              <a:rPr lang="en-US" sz="170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, with exact reconstruction and no mismatches during decoding of multiple random DNA sequences.</a:t>
            </a:r>
            <a:endParaRPr sz="1700" b="0" i="0" u="none" strike="noStrike" cap="none"/>
          </a:p>
        </p:txBody>
      </p:sp>
      <p:sp>
        <p:nvSpPr>
          <p:cNvPr id="215" name="Google Shape;215;p19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778669" y="968097"/>
            <a:ext cx="5840611" cy="73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550"/>
              <a:buFont typeface="PT Serif"/>
              <a:buNone/>
            </a:pPr>
            <a:r>
              <a:rPr lang="en-US" sz="45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</a:t>
            </a:r>
            <a:endParaRPr sz="4550" b="0" i="0" u="none" strike="noStrike" cap="none"/>
          </a:p>
        </p:txBody>
      </p:sp>
      <p:sp>
        <p:nvSpPr>
          <p:cNvPr id="222" name="Google Shape;222;p20"/>
          <p:cNvSpPr/>
          <p:nvPr/>
        </p:nvSpPr>
        <p:spPr>
          <a:xfrm>
            <a:off x="778669" y="2143125"/>
            <a:ext cx="13073063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Both Huffman and Arithmetic Coding offer valuable solutions for DNA sequence compression, each with distinct advantages.</a:t>
            </a:r>
            <a:endParaRPr sz="1750" b="0" i="0" u="none" strike="noStrike" cap="none"/>
          </a:p>
        </p:txBody>
      </p:sp>
      <p:sp>
        <p:nvSpPr>
          <p:cNvPr id="223" name="Google Shape;223;p20"/>
          <p:cNvSpPr/>
          <p:nvPr/>
        </p:nvSpPr>
        <p:spPr>
          <a:xfrm>
            <a:off x="778669" y="2749391"/>
            <a:ext cx="6425327" cy="667464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3824407" y="2874526"/>
            <a:ext cx="333732" cy="41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T Serif"/>
              <a:buNone/>
            </a:pPr>
            <a:r>
              <a:rPr lang="en-US" sz="26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  <a:endParaRPr sz="2600" b="0" i="0" u="none" strike="noStrike" cap="none"/>
          </a:p>
        </p:txBody>
      </p:sp>
      <p:sp>
        <p:nvSpPr>
          <p:cNvPr id="225" name="Google Shape;225;p20"/>
          <p:cNvSpPr/>
          <p:nvPr/>
        </p:nvSpPr>
        <p:spPr>
          <a:xfrm>
            <a:off x="1001078" y="3639264"/>
            <a:ext cx="2920246" cy="36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Significant Reduction</a:t>
            </a:r>
            <a:endParaRPr sz="2250" b="0" i="0" u="none" strike="noStrike" cap="none"/>
          </a:p>
        </p:txBody>
      </p:sp>
      <p:sp>
        <p:nvSpPr>
          <p:cNvPr id="226" name="Google Shape;226;p20"/>
          <p:cNvSpPr/>
          <p:nvPr/>
        </p:nvSpPr>
        <p:spPr>
          <a:xfrm>
            <a:off x="1001078" y="4137779"/>
            <a:ext cx="5980509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Both methods notably reduce DNA storage requirements.</a:t>
            </a:r>
            <a:endParaRPr sz="1750" b="0" i="0" u="none" strike="noStrike" cap="none"/>
          </a:p>
        </p:txBody>
      </p:sp>
      <p:sp>
        <p:nvSpPr>
          <p:cNvPr id="227" name="Google Shape;227;p20"/>
          <p:cNvSpPr/>
          <p:nvPr/>
        </p:nvSpPr>
        <p:spPr>
          <a:xfrm>
            <a:off x="7426404" y="2749391"/>
            <a:ext cx="6425327" cy="667464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10472142" y="2874526"/>
            <a:ext cx="333732" cy="41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T Serif"/>
              <a:buNone/>
            </a:pPr>
            <a:r>
              <a:rPr lang="en-US" sz="26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  <a:endParaRPr sz="2600" b="0" i="0" u="none" strike="noStrike" cap="none"/>
          </a:p>
        </p:txBody>
      </p:sp>
      <p:sp>
        <p:nvSpPr>
          <p:cNvPr id="229" name="Google Shape;229;p20"/>
          <p:cNvSpPr/>
          <p:nvPr/>
        </p:nvSpPr>
        <p:spPr>
          <a:xfrm>
            <a:off x="7648813" y="3639264"/>
            <a:ext cx="2920246" cy="36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Huffman's Strength</a:t>
            </a:r>
            <a:endParaRPr sz="2250" b="0" i="0" u="none" strike="noStrike" cap="none"/>
          </a:p>
        </p:txBody>
      </p:sp>
      <p:sp>
        <p:nvSpPr>
          <p:cNvPr id="230" name="Google Shape;230;p20"/>
          <p:cNvSpPr/>
          <p:nvPr/>
        </p:nvSpPr>
        <p:spPr>
          <a:xfrm>
            <a:off x="7648813" y="4137779"/>
            <a:ext cx="5980509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Faster and simpler, ideal for smaller datasets.</a:t>
            </a:r>
            <a:endParaRPr sz="1750" b="0" i="0" u="none" strike="noStrike" cap="none"/>
          </a:p>
        </p:txBody>
      </p:sp>
      <p:sp>
        <p:nvSpPr>
          <p:cNvPr id="231" name="Google Shape;231;p20"/>
          <p:cNvSpPr/>
          <p:nvPr/>
        </p:nvSpPr>
        <p:spPr>
          <a:xfrm>
            <a:off x="778669" y="4938593"/>
            <a:ext cx="6425327" cy="667464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3824407" y="5063728"/>
            <a:ext cx="333732" cy="41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T Serif"/>
              <a:buNone/>
            </a:pPr>
            <a:r>
              <a:rPr lang="en-US" sz="26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  <a:endParaRPr sz="2600" b="0" i="0" u="none" strike="noStrike" cap="none"/>
          </a:p>
        </p:txBody>
      </p:sp>
      <p:sp>
        <p:nvSpPr>
          <p:cNvPr id="233" name="Google Shape;233;p20"/>
          <p:cNvSpPr/>
          <p:nvPr/>
        </p:nvSpPr>
        <p:spPr>
          <a:xfrm>
            <a:off x="1001078" y="5828467"/>
            <a:ext cx="2920246" cy="36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Arithmetic's Edge</a:t>
            </a:r>
            <a:endParaRPr sz="2250" b="0" i="0" u="none" strike="noStrike" cap="none"/>
          </a:p>
        </p:txBody>
      </p:sp>
      <p:sp>
        <p:nvSpPr>
          <p:cNvPr id="234" name="Google Shape;234;p20"/>
          <p:cNvSpPr/>
          <p:nvPr/>
        </p:nvSpPr>
        <p:spPr>
          <a:xfrm>
            <a:off x="1001078" y="6326981"/>
            <a:ext cx="5980509" cy="71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Achieves optimal compression for large genomic sequences.</a:t>
            </a:r>
            <a:endParaRPr sz="1750" b="0" i="0" u="none" strike="noStrike" cap="none"/>
          </a:p>
        </p:txBody>
      </p:sp>
      <p:sp>
        <p:nvSpPr>
          <p:cNvPr id="235" name="Google Shape;235;p20"/>
          <p:cNvSpPr/>
          <p:nvPr/>
        </p:nvSpPr>
        <p:spPr>
          <a:xfrm>
            <a:off x="7426404" y="4938593"/>
            <a:ext cx="6425327" cy="667464"/>
          </a:xfrm>
          <a:prstGeom prst="roundRect">
            <a:avLst>
              <a:gd name="adj" fmla="val 480029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10472142" y="5063728"/>
            <a:ext cx="333732" cy="41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600"/>
              <a:buFont typeface="PT Serif"/>
              <a:buNone/>
            </a:pPr>
            <a:r>
              <a:rPr lang="en-US" sz="26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  <a:endParaRPr sz="2600" b="0" i="0" u="none" strike="noStrike" cap="none"/>
          </a:p>
        </p:txBody>
      </p:sp>
      <p:sp>
        <p:nvSpPr>
          <p:cNvPr id="237" name="Google Shape;237;p20"/>
          <p:cNvSpPr/>
          <p:nvPr/>
        </p:nvSpPr>
        <p:spPr>
          <a:xfrm>
            <a:off x="7648813" y="5828467"/>
            <a:ext cx="2920246" cy="36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250"/>
              <a:buFont typeface="PT Serif"/>
              <a:buNone/>
            </a:pPr>
            <a:r>
              <a:rPr lang="en-US" sz="225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Clear Trade-off</a:t>
            </a:r>
            <a:endParaRPr sz="2250" b="0" i="0" u="none" strike="noStrike" cap="none"/>
          </a:p>
        </p:txBody>
      </p:sp>
      <p:sp>
        <p:nvSpPr>
          <p:cNvPr id="238" name="Google Shape;238;p20"/>
          <p:cNvSpPr/>
          <p:nvPr/>
        </p:nvSpPr>
        <p:spPr>
          <a:xfrm>
            <a:off x="7648813" y="6326981"/>
            <a:ext cx="5980509" cy="355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en-US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balance exists between compression speed and ratio.</a:t>
            </a:r>
            <a:endParaRPr sz="1750" b="0" i="0" u="none" strike="noStrike" cap="none"/>
          </a:p>
        </p:txBody>
      </p:sp>
      <p:sp>
        <p:nvSpPr>
          <p:cNvPr id="239" name="Google Shape;239;p20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644843" y="656868"/>
            <a:ext cx="4836319" cy="60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800"/>
              <a:buFont typeface="PT Serif"/>
              <a:buNone/>
            </a:pPr>
            <a:r>
              <a:rPr lang="en-US" sz="380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Future Work</a:t>
            </a:r>
            <a:endParaRPr sz="3800" b="0" i="0" u="none" strike="noStrike" cap="none"/>
          </a:p>
        </p:txBody>
      </p:sp>
      <p:sp>
        <p:nvSpPr>
          <p:cNvPr id="247" name="Google Shape;247;p21"/>
          <p:cNvSpPr/>
          <p:nvPr/>
        </p:nvSpPr>
        <p:spPr>
          <a:xfrm>
            <a:off x="782955" y="1537692"/>
            <a:ext cx="22860" cy="6035040"/>
          </a:xfrm>
          <a:prstGeom prst="roundRect">
            <a:avLst>
              <a:gd name="adj" fmla="val 120895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60095" y="2012633"/>
            <a:ext cx="552688" cy="22860"/>
          </a:xfrm>
          <a:prstGeom prst="roundRect">
            <a:avLst>
              <a:gd name="adj" fmla="val 120895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713899" y="1955006"/>
            <a:ext cx="138113" cy="138112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1335643" y="1537692"/>
            <a:ext cx="7163514" cy="972741"/>
          </a:xfrm>
          <a:prstGeom prst="roundRect">
            <a:avLst>
              <a:gd name="adj" fmla="val 2841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1519833" y="1721882"/>
            <a:ext cx="6795135" cy="604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T Serif"/>
              <a:buNone/>
            </a:pPr>
            <a:r>
              <a:rPr lang="en-US" sz="19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Develop hybrid Huffman-Arithmetic models for combined benefits.</a:t>
            </a:r>
            <a:endParaRPr sz="1900" b="0" i="0" u="none" strike="noStrike" cap="none"/>
          </a:p>
        </p:txBody>
      </p:sp>
      <p:sp>
        <p:nvSpPr>
          <p:cNvPr id="252" name="Google Shape;252;p21"/>
          <p:cNvSpPr/>
          <p:nvPr/>
        </p:nvSpPr>
        <p:spPr>
          <a:xfrm>
            <a:off x="760095" y="3353753"/>
            <a:ext cx="552688" cy="22860"/>
          </a:xfrm>
          <a:prstGeom prst="roundRect">
            <a:avLst>
              <a:gd name="adj" fmla="val 120895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713899" y="3296126"/>
            <a:ext cx="138113" cy="138112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1335643" y="2878812"/>
            <a:ext cx="7163514" cy="972741"/>
          </a:xfrm>
          <a:prstGeom prst="roundRect">
            <a:avLst>
              <a:gd name="adj" fmla="val 2841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1519833" y="3063002"/>
            <a:ext cx="6795135" cy="604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T Serif"/>
              <a:buNone/>
            </a:pPr>
            <a:r>
              <a:rPr lang="en-US" sz="19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Optimize algorithms for real-world genomic datasets (Gigabyte-Terabyte scale).</a:t>
            </a:r>
            <a:endParaRPr sz="1900" b="0" i="0" u="none" strike="noStrike" cap="none"/>
          </a:p>
        </p:txBody>
      </p:sp>
      <p:sp>
        <p:nvSpPr>
          <p:cNvPr id="256" name="Google Shape;256;p21"/>
          <p:cNvSpPr/>
          <p:nvPr/>
        </p:nvSpPr>
        <p:spPr>
          <a:xfrm>
            <a:off x="760095" y="4543782"/>
            <a:ext cx="552688" cy="22860"/>
          </a:xfrm>
          <a:prstGeom prst="roundRect">
            <a:avLst>
              <a:gd name="adj" fmla="val 120895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713899" y="4486156"/>
            <a:ext cx="138113" cy="138112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1335643" y="4219932"/>
            <a:ext cx="7163514" cy="670560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1450658" y="4199791"/>
            <a:ext cx="6644997" cy="302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T Serif"/>
              <a:buNone/>
            </a:pPr>
            <a:r>
              <a:rPr lang="en-US" sz="1900" b="0" i="0" u="none" strike="noStrike" cap="none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Integrate AI/ML methods for adaptive compression strategies.</a:t>
            </a:r>
            <a:endParaRPr sz="1900" b="0" i="0" u="none" strike="noStrike" cap="none" dirty="0"/>
          </a:p>
        </p:txBody>
      </p:sp>
      <p:sp>
        <p:nvSpPr>
          <p:cNvPr id="260" name="Google Shape;260;p21"/>
          <p:cNvSpPr/>
          <p:nvPr/>
        </p:nvSpPr>
        <p:spPr>
          <a:xfrm>
            <a:off x="760095" y="5733812"/>
            <a:ext cx="552688" cy="22860"/>
          </a:xfrm>
          <a:prstGeom prst="roundRect">
            <a:avLst>
              <a:gd name="adj" fmla="val 120895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13899" y="5676186"/>
            <a:ext cx="138113" cy="138112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1335643" y="5258872"/>
            <a:ext cx="7163514" cy="972741"/>
          </a:xfrm>
          <a:prstGeom prst="roundRect">
            <a:avLst>
              <a:gd name="adj" fmla="val 2841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1519833" y="5443061"/>
            <a:ext cx="6795135" cy="604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T Serif"/>
              <a:buNone/>
            </a:pPr>
            <a:r>
              <a:rPr lang="en-US" sz="1900" b="0" i="0" u="none" strike="noStrike" cap="none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Improve error-resilient arithmetic coding for robust applications.</a:t>
            </a:r>
            <a:endParaRPr sz="1900" b="0" i="0" u="none" strike="noStrike" cap="none" dirty="0"/>
          </a:p>
        </p:txBody>
      </p:sp>
      <p:sp>
        <p:nvSpPr>
          <p:cNvPr id="264" name="Google Shape;264;p21"/>
          <p:cNvSpPr/>
          <p:nvPr/>
        </p:nvSpPr>
        <p:spPr>
          <a:xfrm>
            <a:off x="760095" y="7074932"/>
            <a:ext cx="552688" cy="22860"/>
          </a:xfrm>
          <a:prstGeom prst="roundRect">
            <a:avLst>
              <a:gd name="adj" fmla="val 120895"/>
            </a:avLst>
          </a:prstGeom>
          <a:solidFill>
            <a:srgbClr val="D8D4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713899" y="7017306"/>
            <a:ext cx="138113" cy="138112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1335643" y="6599992"/>
            <a:ext cx="7163514" cy="972741"/>
          </a:xfrm>
          <a:prstGeom prst="roundRect">
            <a:avLst>
              <a:gd name="adj" fmla="val 2841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1519833" y="6784181"/>
            <a:ext cx="6795135" cy="604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900"/>
              <a:buFont typeface="PT Serif"/>
              <a:buNone/>
            </a:pPr>
            <a:r>
              <a:rPr lang="en-US" sz="1900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Explore applications in IoT genomics, cloud storage, and medical analytics.</a:t>
            </a:r>
            <a:endParaRPr sz="19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/>
          <p:nvPr/>
        </p:nvSpPr>
        <p:spPr>
          <a:xfrm>
            <a:off x="4338042" y="3289102"/>
            <a:ext cx="5954197" cy="74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lang="en-US" sz="4650" b="0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Thank You</a:t>
            </a:r>
            <a:endParaRPr sz="4650" b="0" i="0" u="none" strike="noStrike" cap="none"/>
          </a:p>
        </p:txBody>
      </p:sp>
      <p:sp>
        <p:nvSpPr>
          <p:cNvPr id="274" name="Google Shape;274;p22"/>
          <p:cNvSpPr/>
          <p:nvPr/>
        </p:nvSpPr>
        <p:spPr>
          <a:xfrm>
            <a:off x="793790" y="448698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200"/>
              <a:buFont typeface="DM Sans"/>
              <a:buNone/>
            </a:pPr>
            <a:r>
              <a:rPr lang="en-US" sz="2200" b="0" i="0" u="none" strike="noStrike" cap="none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 sz="2200" b="0" i="0" u="none" strike="noStrike" cap="none" dirty="0"/>
          </a:p>
        </p:txBody>
      </p:sp>
      <p:sp>
        <p:nvSpPr>
          <p:cNvPr id="275" name="Google Shape;275;p22"/>
          <p:cNvSpPr/>
          <p:nvPr/>
        </p:nvSpPr>
        <p:spPr>
          <a:xfrm>
            <a:off x="12777250" y="7735850"/>
            <a:ext cx="1739400" cy="40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PT Serif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Manas Kulkarni</cp:lastModifiedBy>
  <cp:revision>3</cp:revision>
  <dcterms:modified xsi:type="dcterms:W3CDTF">2025-11-21T09:23:38Z</dcterms:modified>
</cp:coreProperties>
</file>